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7BC62"/>
                </a:solidFill>
                <a:latin typeface="Malgun Gothic"/>
                <a:ea typeface="Malgun Gothic"/>
              </a:rPr>
              <a:t>이화여자대학교  ·  Data Engineering  ·  04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</a:rPr>
              <a:t>문헌 기반 인과 추론,</a:t>
            </a:r>
          </a:p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</a:rPr>
              <a:t>세 가지 병목과 해결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97BC62"/>
                </a:solidFill>
                <a:latin typeface="Malgun Gothic"/>
                <a:ea typeface="Malgun Gothic"/>
              </a:rPr>
              <a:t>RAG Troubleshooting  —  검색 · 청킹 · 변수 차원의 문제를 진단하고 재설계하다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74920"/>
            <a:ext cx="1700784" cy="420624"/>
          </a:xfrm>
          <a:prstGeom prst="roundRect">
            <a:avLst>
              <a:gd name="adj" fmla="val 6000"/>
            </a:avLst>
          </a:prstGeom>
          <a:solidFill>
            <a:srgbClr val="24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7007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F0DC"/>
                </a:solidFill>
                <a:latin typeface="Malgun Gothic"/>
                <a:ea typeface="Malgun Gothic"/>
              </a:rPr>
              <a:t>Semantic Scholar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88336" y="5074920"/>
            <a:ext cx="1700784" cy="420624"/>
          </a:xfrm>
          <a:prstGeom prst="roundRect">
            <a:avLst>
              <a:gd name="adj" fmla="val 6000"/>
            </a:avLst>
          </a:prstGeom>
          <a:solidFill>
            <a:srgbClr val="24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8336" y="5074920"/>
            <a:ext cx="17007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F0DC"/>
                </a:solidFill>
                <a:latin typeface="Malgun Gothic"/>
                <a:ea typeface="Malgun Gothic"/>
              </a:rPr>
              <a:t>Overlap Chunking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5074920"/>
            <a:ext cx="2084832" cy="420624"/>
          </a:xfrm>
          <a:prstGeom prst="roundRect">
            <a:avLst>
              <a:gd name="adj" fmla="val 6000"/>
            </a:avLst>
          </a:prstGeom>
          <a:solidFill>
            <a:srgbClr val="24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5074920"/>
            <a:ext cx="20848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F0DC"/>
                </a:solidFill>
                <a:latin typeface="Malgun Gothic"/>
                <a:ea typeface="Malgun Gothic"/>
              </a:rPr>
              <a:t>Theory Mapping (ECD)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03136" y="5074920"/>
            <a:ext cx="1508760" cy="420624"/>
          </a:xfrm>
          <a:prstGeom prst="roundRect">
            <a:avLst>
              <a:gd name="adj" fmla="val 6000"/>
            </a:avLst>
          </a:prstGeom>
          <a:solidFill>
            <a:srgbClr val="24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03136" y="5074920"/>
            <a:ext cx="1508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F0DC"/>
                </a:solidFill>
                <a:latin typeface="Malgun Gothic"/>
                <a:ea typeface="Malgun Gothic"/>
              </a:rPr>
              <a:t>Two-axis 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76488" y="5074920"/>
            <a:ext cx="644652" cy="420624"/>
          </a:xfrm>
          <a:prstGeom prst="roundRect">
            <a:avLst>
              <a:gd name="adj" fmla="val 6000"/>
            </a:avLst>
          </a:prstGeom>
          <a:solidFill>
            <a:srgbClr val="24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5074920"/>
            <a:ext cx="6446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F0DC"/>
                </a:solidFill>
                <a:latin typeface="Malgun Gothic"/>
                <a:ea typeface="Malgun Gothic"/>
              </a:rPr>
              <a:t>RAGAS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Malgun Gothic"/>
                <a:ea typeface="Malgun Gothic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B2E2B"/>
                </a:solidFill>
                <a:latin typeface="Malgun Gothic"/>
                <a:ea typeface="Malgun Gothic"/>
              </a:rPr>
              <a:t>기존 파이프라인에서 발견된 세 가지 병목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Malgun Gothic"/>
                <a:ea typeface="Malgun Gothic"/>
              </a:rPr>
              <a:t>증상: </a:t>
            </a:r>
            <a:r>
              <a:rPr sz="1300" b="0" i="0">
                <a:solidFill>
                  <a:srgbClr val="6B7266"/>
                </a:solidFill>
                <a:latin typeface="Malgun Gothic"/>
                <a:ea typeface="Malgun Gothic"/>
              </a:rPr>
              <a:t>RAG 문서 연관성 스코어가 지나치게 낮아 인과관계 추론이 작동하지 않음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61188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611880" cy="128016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E8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2C5F2D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2E2B"/>
                </a:solidFill>
                <a:latin typeface="Malgun Gothic"/>
                <a:ea typeface="Malgun Gothic"/>
              </a:rPr>
              <a:t>논문 검색 (Search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77639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66"/>
                </a:solidFill>
                <a:latin typeface="Malgun Gothic"/>
                <a:ea typeface="Malgun Gothic"/>
              </a:rPr>
              <a:t>도메인 키워드(gamification, student learning)로 검색 시 개론적 리뷰 페이퍼만 수집 → 구체적 변수 관계와 매칭 실패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1828800"/>
            <a:ext cx="361188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1828800"/>
            <a:ext cx="3611880" cy="128016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18888" y="2240280"/>
            <a:ext cx="777240" cy="777240"/>
          </a:xfrm>
          <a:prstGeom prst="ellipse">
            <a:avLst/>
          </a:prstGeom>
          <a:solidFill>
            <a:srgbClr val="E8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24028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2C5F2D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324612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2E2B"/>
                </a:solidFill>
                <a:latin typeface="Malgun Gothic"/>
                <a:ea typeface="Malgun Gothic"/>
              </a:rPr>
              <a:t>청킹 (Chunking)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3977639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66"/>
                </a:solidFill>
                <a:latin typeface="Malgun Gothic"/>
                <a:ea typeface="Malgun Gothic"/>
              </a:rPr>
              <a:t>GROBID 기반 정밀 청킹 시도 → API 토큰 한도·처리 속도 문제로 운영상 비현실적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7616" y="1828800"/>
            <a:ext cx="361188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57616" y="1828800"/>
            <a:ext cx="3611880" cy="12801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77656" y="2240280"/>
            <a:ext cx="777240" cy="777240"/>
          </a:xfrm>
          <a:prstGeom prst="ellipse">
            <a:avLst/>
          </a:prstGeom>
          <a:solidFill>
            <a:srgbClr val="F4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77656" y="224028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85042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7656" y="324612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2E2B"/>
                </a:solidFill>
                <a:latin typeface="Malgun Gothic"/>
                <a:ea typeface="Malgun Gothic"/>
              </a:rPr>
              <a:t>검색·임베딩 (RAG)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656" y="3977639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66"/>
                </a:solidFill>
                <a:latin typeface="Malgun Gothic"/>
                <a:ea typeface="Malgun Gothic"/>
              </a:rPr>
              <a:t>행동변수 간 직접 관계(풀스크린 ↔ 퀴즈 정답률)를 다룬 문헌이 애초에 부재 → 쿼리 확장만으로 해결 불가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Malgun Gothic"/>
                <a:ea typeface="Malgun Gothic"/>
              </a:rPr>
              <a:t>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B2E2B"/>
                </a:solidFill>
                <a:latin typeface="Malgun Gothic"/>
                <a:ea typeface="Malgun Gothic"/>
              </a:rPr>
              <a:t>쿼리의 문제가 아니라 “변수 차원”의 문제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57800" cy="4663440"/>
          </a:xfrm>
          <a:prstGeom prst="roundRect">
            <a:avLst>
              <a:gd name="adj" fmla="val 6000"/>
            </a:avLst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5F2D"/>
                </a:solidFill>
                <a:latin typeface="Malgun Gothic"/>
                <a:ea typeface="Malgun Gothic"/>
              </a:rPr>
              <a:t>왜 문헌이 안 잡히는가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487168"/>
            <a:ext cx="146304" cy="146304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423160"/>
            <a:ext cx="4389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B2E2B"/>
                </a:solidFill>
                <a:latin typeface="Malgun Gothic"/>
                <a:ea typeface="Malgun Gothic"/>
              </a:rPr>
              <a:t>행동변수 A–B의 직접 인과</a:t>
            </a:r>
            <a:r>
              <a:rPr sz="1400" b="0" i="0">
                <a:solidFill>
                  <a:srgbClr val="6B7266"/>
                </a:solidFill>
                <a:latin typeface="Malgun Gothic"/>
                <a:ea typeface="Malgun Gothic"/>
              </a:rPr>
              <a:t>  (예: 풀스크린 FS → 퀴즈 정답률 PERF)를 검증한 논문은 사람이 찾아도 없다.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694176"/>
            <a:ext cx="146304" cy="146304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30168"/>
            <a:ext cx="4389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B2E2B"/>
                </a:solidFill>
                <a:latin typeface="Malgun Gothic"/>
                <a:ea typeface="Malgun Gothic"/>
              </a:rPr>
              <a:t>교육심리 SEM의 단위</a:t>
            </a:r>
            <a:r>
              <a:rPr sz="1400" b="0" i="0">
                <a:solidFill>
                  <a:srgbClr val="6B7266"/>
                </a:solidFill>
                <a:latin typeface="Malgun Gothic"/>
                <a:ea typeface="Malgun Gothic"/>
              </a:rPr>
              <a:t>  심리 척도의 잠재 구성개념(construct)이지, 구체적 행동 로그 변수가 아니다.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901184"/>
            <a:ext cx="146304" cy="146304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837176"/>
            <a:ext cx="4389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B2E2B"/>
                </a:solidFill>
                <a:latin typeface="Malgun Gothic"/>
                <a:ea typeface="Malgun Gothic"/>
              </a:rPr>
              <a:t>따라서 필요한 것</a:t>
            </a:r>
            <a:r>
              <a:rPr sz="1400" b="0" i="0">
                <a:solidFill>
                  <a:srgbClr val="6B7266"/>
                </a:solidFill>
                <a:latin typeface="Malgun Gothic"/>
                <a:ea typeface="Malgun Gothic"/>
              </a:rPr>
              <a:t>  행동 로그 변수를 이론적 차원(latent construct)에 투영한 뒤 그 차원으로 검색한다.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Malgun Gothic"/>
                <a:ea typeface="Malgun Gothic"/>
              </a:rPr>
              <a:t>선행 연구도 같은 전략: 비정형/미관측을 잠재요인으로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057400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057400"/>
            <a:ext cx="118872" cy="1874519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C5F2D"/>
                </a:solidFill>
                <a:latin typeface="Malgun Gothic"/>
                <a:ea typeface="Malgun Gothic"/>
              </a:rPr>
              <a:t>COAT</a:t>
            </a:r>
            <a:r>
              <a:rPr sz="1100" b="0" i="1">
                <a:solidFill>
                  <a:srgbClr val="6B7266"/>
                </a:solidFill>
                <a:latin typeface="Malgun Gothic"/>
                <a:ea typeface="Malgun Gothic"/>
              </a:rPr>
              <a:t>   NeurIPS 2024 · Discovery of the Hidden World with LLMs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B2E2B"/>
                </a:solidFill>
                <a:latin typeface="Malgun Gothic"/>
                <a:ea typeface="Malgun Gothic"/>
              </a:rPr>
              <a:t>LLM이 비정형 데이터(리뷰 등)에서 잠재요인(맛·가격)을 추출·점수화 → 정형 변수로 변환 후 인과 발견.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14800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4114800"/>
            <a:ext cx="118872" cy="1874519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43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C5F2D"/>
                </a:solidFill>
                <a:latin typeface="Malgun Gothic"/>
                <a:ea typeface="Malgun Gothic"/>
              </a:rPr>
              <a:t>ARCADIA</a:t>
            </a:r>
            <a:r>
              <a:rPr sz="1100" b="0" i="1">
                <a:solidFill>
                  <a:srgbClr val="6B7266"/>
                </a:solidFill>
                <a:latin typeface="Malgun Gothic"/>
                <a:ea typeface="Malgun Gothic"/>
              </a:rPr>
              <a:t>   Scalable Causal Discovery for Corporate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89204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B2E2B"/>
                </a:solidFill>
                <a:latin typeface="Malgun Gothic"/>
                <a:ea typeface="Malgun Gothic"/>
              </a:rPr>
              <a:t>LLM 추론으로 잠재 경제 변수를 proxy confounder로 도입 → 미관측 교란 보정, back-door 식별성 확보.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Malgun Gothic"/>
                <a:ea typeface="Malgun Gothic"/>
              </a:rPr>
              <a:t>KEY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B2E2B"/>
                </a:solidFill>
                <a:latin typeface="Malgun Gothic"/>
                <a:ea typeface="Malgun Gothic"/>
              </a:rPr>
              <a:t>행동 로그 변수를 이론적 차원에 투영한다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25296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66"/>
                </a:solidFill>
                <a:latin typeface="Malgun Gothic"/>
                <a:ea typeface="Malgun Gothic"/>
              </a:rPr>
              <a:t>Stealth Assessment의 </a:t>
            </a:r>
            <a:r>
              <a:rPr sz="1300" b="1" i="0">
                <a:solidFill>
                  <a:srgbClr val="2C5F2D"/>
                </a:solidFill>
                <a:latin typeface="Malgun Gothic"/>
                <a:ea typeface="Malgun Gothic"/>
              </a:rPr>
              <a:t>ECD(Evidence-Centered Design)</a:t>
            </a:r>
            <a:r>
              <a:rPr sz="1300" b="0" i="0">
                <a:solidFill>
                  <a:srgbClr val="6B7266"/>
                </a:solidFill>
                <a:latin typeface="Malgun Gothic"/>
                <a:ea typeface="Malgun Gothic"/>
              </a:rPr>
              <a:t> 프레임워크 차용 — DAG를 그리기 전에 변수별 이론 메타를 부착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B2E2B"/>
                </a:solidFill>
                <a:latin typeface="Malgun Gothic"/>
                <a:ea typeface="Malgun Gothic"/>
              </a:rPr>
              <a:t>행동 로그 변수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C5F2D"/>
                </a:solidFill>
                <a:latin typeface="Malgun Gothic"/>
                <a:ea typeface="Malgun Gothic"/>
              </a:rPr>
              <a:t>Theory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659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B2E2B"/>
                </a:solidFill>
                <a:latin typeface="Malgun Gothic"/>
                <a:ea typeface="Malgun Gothic"/>
              </a:rPr>
              <a:t>잠재 구성개념 (construct)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468880"/>
            <a:ext cx="3017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61518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85042"/>
                </a:solidFill>
                <a:latin typeface="Malgun Gothic"/>
                <a:ea typeface="Malgun Gothic"/>
              </a:rPr>
              <a:t>FS</a:t>
            </a:r>
            <a:r>
              <a:rPr sz="1250" b="0" i="0">
                <a:solidFill>
                  <a:srgbClr val="6B7266"/>
                </a:solidFill>
                <a:latin typeface="Malgun Gothic"/>
                <a:ea typeface="Malgun Gothic"/>
              </a:rPr>
              <a:t>   Fullscreen 사용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35808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7266"/>
                </a:solidFill>
                <a:latin typeface="Malgun Gothic"/>
                <a:ea typeface="Malgun Gothic"/>
              </a:rPr>
              <a:t>behavioral log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343400" y="2770632"/>
            <a:ext cx="1417320" cy="36576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505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5F2D"/>
                </a:solidFill>
                <a:latin typeface="Malgun Gothic"/>
                <a:ea typeface="Malgun Gothic"/>
              </a:rPr>
              <a:t>behavioral_proxy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468880"/>
            <a:ext cx="3429000" cy="96012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 w="12700">
            <a:solidFill>
              <a:srgbClr val="DD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61518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</a:rPr>
              <a:t>Immersion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3580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F0DC"/>
                </a:solidFill>
                <a:latin typeface="Malgun Gothic"/>
                <a:ea typeface="Malgun Gothic"/>
              </a:rPr>
              <a:t>EGameFlow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685032"/>
            <a:ext cx="3017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831336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85042"/>
                </a:solidFill>
                <a:latin typeface="Malgun Gothic"/>
                <a:ea typeface="Malgun Gothic"/>
              </a:rPr>
              <a:t>PERF</a:t>
            </a:r>
            <a:r>
              <a:rPr sz="1250" b="0" i="0">
                <a:solidFill>
                  <a:srgbClr val="6B7266"/>
                </a:solidFill>
                <a:latin typeface="Malgun Gothic"/>
                <a:ea typeface="Malgun Gothic"/>
              </a:rPr>
              <a:t>   퀴즈 정답률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25196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7266"/>
                </a:solidFill>
                <a:latin typeface="Malgun Gothic"/>
                <a:ea typeface="Malgun Gothic"/>
              </a:rPr>
              <a:t>behavioral log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343400" y="3986784"/>
            <a:ext cx="1417320" cy="36576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3666744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5F2D"/>
                </a:solidFill>
                <a:latin typeface="Malgun Gothic"/>
                <a:ea typeface="Malgun Gothic"/>
              </a:rPr>
              <a:t>outcome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3685032"/>
            <a:ext cx="3429000" cy="96012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 w="12700">
            <a:solidFill>
              <a:srgbClr val="DD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3831336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</a:rPr>
              <a:t>Knowledge Improvement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251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F0DC"/>
                </a:solidFill>
                <a:latin typeface="Malgun Gothic"/>
                <a:ea typeface="Malgun Gothic"/>
              </a:rPr>
              <a:t>EGameFlow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901184"/>
            <a:ext cx="3017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047488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85042"/>
                </a:solidFill>
                <a:latin typeface="Malgun Gothic"/>
                <a:ea typeface="Malgun Gothic"/>
              </a:rPr>
              <a:t>DIV</a:t>
            </a:r>
            <a:r>
              <a:rPr sz="1250" b="0" i="0">
                <a:solidFill>
                  <a:srgbClr val="6B7266"/>
                </a:solidFill>
                <a:latin typeface="Malgun Gothic"/>
                <a:ea typeface="Malgun Gothic"/>
              </a:rPr>
              <a:t>   행동 다양성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46811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7266"/>
                </a:solidFill>
                <a:latin typeface="Malgun Gothic"/>
                <a:ea typeface="Malgun Gothic"/>
              </a:rPr>
              <a:t>behavioral log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343400" y="5202936"/>
            <a:ext cx="1417320" cy="36576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882896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C5F2D"/>
                </a:solidFill>
                <a:latin typeface="Malgun Gothic"/>
                <a:ea typeface="Malgun Gothic"/>
              </a:rPr>
              <a:t>behavioral_proxy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4901184"/>
            <a:ext cx="3429000" cy="96012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 w="12700">
            <a:solidFill>
              <a:srgbClr val="DD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5047488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</a:rPr>
              <a:t>Autonomy Satisfaction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46811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F0DC"/>
                </a:solidFill>
                <a:latin typeface="Malgun Gothic"/>
                <a:ea typeface="Malgun Gothic"/>
              </a:rPr>
              <a:t>BANGS / SDT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6263640"/>
            <a:ext cx="9966960" cy="91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6199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B7266"/>
                </a:solidFill>
                <a:latin typeface="Malgun Gothic"/>
                <a:ea typeface="Malgun Gothic"/>
              </a:rPr>
              <a:t>연구자가 준 기반 이론 + 척도로 LLM이 직접 매핑 → 부착된 잠재 메타는 이후 인과 추론·쿼리 생성 시 참조 (직접적 행동변수 논문이 없으므로)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Malgun Gothic"/>
                <a:ea typeface="Malgun Gothic"/>
              </a:rPr>
              <a:t>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B2E2B"/>
                </a:solidFill>
                <a:latin typeface="Malgun Gothic"/>
                <a:ea typeface="Malgun Gothic"/>
              </a:rPr>
              <a:t>세 병목에 대응하는 재설계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611880" cy="3154680"/>
          </a:xfrm>
          <a:prstGeom prst="roundRect">
            <a:avLst>
              <a:gd name="adj" fmla="val 6000"/>
            </a:avLst>
          </a:prstGeom>
          <a:solidFill>
            <a:srgbClr val="F6F7F2"/>
          </a:solidFill>
          <a:ln w="12700">
            <a:solidFill>
              <a:srgbClr val="DD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97BC62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5F2D"/>
                </a:solidFill>
                <a:latin typeface="Malgun Gothic"/>
                <a:ea typeface="Malgun Gothic"/>
              </a:rPr>
              <a:t>검색 API 교체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546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5042"/>
                </a:solidFill>
                <a:latin typeface="Malgun Gothic"/>
                <a:ea typeface="Malgun Gothic"/>
              </a:rPr>
              <a:t>OpenAlex → Semantic Scholar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11880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B2E2B"/>
                </a:solidFill>
                <a:latin typeface="Malgun Gothic"/>
                <a:ea typeface="Malgun Gothic"/>
              </a:rPr>
              <a:t>긴 확장 쿼리에 불리한 키워드(BM25) 매칭 대신, 학습형 relevance 랭킹·SPECTER 임베딩으로 의미 매칭을 상대적으로 더 지원.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783080"/>
            <a:ext cx="3611880" cy="3154680"/>
          </a:xfrm>
          <a:prstGeom prst="roundRect">
            <a:avLst>
              <a:gd name="adj" fmla="val 6000"/>
            </a:avLst>
          </a:prstGeom>
          <a:solidFill>
            <a:srgbClr val="F6F7F2"/>
          </a:solidFill>
          <a:ln w="12700">
            <a:solidFill>
              <a:srgbClr val="DD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0574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97BC62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7432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5F2D"/>
                </a:solidFill>
                <a:latin typeface="Malgun Gothic"/>
                <a:ea typeface="Malgun Gothic"/>
              </a:rPr>
              <a:t>청킹 단순화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31546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5042"/>
                </a:solidFill>
                <a:latin typeface="Malgun Gothic"/>
                <a:ea typeface="Malgun Gothic"/>
              </a:rPr>
              <a:t>GROBID → Overlap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611880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B2E2B"/>
                </a:solidFill>
                <a:latin typeface="Malgun Gothic"/>
                <a:ea typeface="Malgun Gothic"/>
              </a:rPr>
              <a:t>정밀 파싱 없이 오버랩 슬라이딩 윈도우만으로도 문서 질·연관성 스코어 유지(RAGAS로 확인) → 토큰·속도 제약 해소.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7616" y="1783080"/>
            <a:ext cx="3611880" cy="3154680"/>
          </a:xfrm>
          <a:prstGeom prst="roundRect">
            <a:avLst>
              <a:gd name="adj" fmla="val 6000"/>
            </a:avLst>
          </a:prstGeom>
          <a:solidFill>
            <a:srgbClr val="F6F7F2"/>
          </a:solidFill>
          <a:ln w="12700">
            <a:solidFill>
              <a:srgbClr val="DD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77656" y="20574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97BC62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7656" y="27432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5F2D"/>
                </a:solidFill>
                <a:latin typeface="Malgun Gothic"/>
                <a:ea typeface="Malgun Gothic"/>
              </a:rPr>
              <a:t>쿼리 확장 (두 축)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7656" y="31546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85042"/>
                </a:solidFill>
                <a:latin typeface="Malgun Gothic"/>
                <a:ea typeface="Malgun Gothic"/>
              </a:rPr>
              <a:t>이론 검증 논문 + Theory 매핑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7656" y="3611880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B2E2B"/>
                </a:solidFill>
                <a:latin typeface="Malgun Gothic"/>
                <a:ea typeface="Malgun Gothic"/>
              </a:rPr>
              <a:t>축1: 이론의 가설경로·SEM 검증 논문을 쿼리 그룹으로 검색 후 중복 제거. 축2: 매핑된 construct로 RAG 쿼리, 약한 변수는 변수명+desc 동시 투입.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10908792" cy="960120"/>
          </a:xfrm>
          <a:prstGeom prst="roundRect">
            <a:avLst>
              <a:gd name="adj" fmla="val 6000"/>
            </a:avLst>
          </a:prstGeom>
          <a:solidFill>
            <a:srgbClr val="183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7BC62"/>
                </a:solidFill>
                <a:latin typeface="Malgun Gothic"/>
                <a:ea typeface="Malgun Gothic"/>
              </a:rPr>
              <a:t>build_query()</a:t>
            </a:r>
            <a:r>
              <a:rPr sz="1150" b="0" i="1">
                <a:solidFill>
                  <a:srgbClr val="E8F0DC"/>
                </a:solidFill>
                <a:latin typeface="Malgun Gothic"/>
                <a:ea typeface="Malgun Gothic"/>
              </a:rPr>
              <a:t>   construct 단위로 인과 쿼리 생성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1500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Malgun Gothic"/>
                <a:ea typeface="Malgun Gothic"/>
              </a:rPr>
              <a:t>f"{ca} &amp; {cb} causal relationship in {learning_env} of {learner_type} learning"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Malgun Gothic"/>
                <a:ea typeface="Malgun Gothic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B2E2B"/>
                </a:solidFill>
                <a:latin typeface="Malgun Gothic"/>
                <a:ea typeface="Malgun Gothic"/>
              </a:rPr>
              <a:t>무엇을 평가할 것인가 — RAGAS, 선별적으로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25296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66"/>
                </a:solidFill>
                <a:latin typeface="Malgun Gothic"/>
                <a:ea typeface="Malgun Gothic"/>
              </a:rPr>
              <a:t>유사도(연관성)만으론 부족 — 주제적으로 가까워도 인과 근거를 담았는지는 알 수 없다. 평가를 두 목적으로 분리한다.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08792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</a:rPr>
              <a:t>검증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828800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</a:rPr>
              <a:t>지표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822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</a:rPr>
              <a:t>채택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828800"/>
            <a:ext cx="44165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</a:rPr>
              <a:t>이유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1090879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2880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66"/>
                </a:solidFill>
                <a:latin typeface="Malgun Gothic"/>
                <a:ea typeface="Malgun Gothic"/>
              </a:rPr>
              <a:t>청킹 교체가 검색 품질을 떨어뜨렸나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331720"/>
            <a:ext cx="1783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B2E2B"/>
                </a:solidFill>
                <a:latin typeface="Malgun Gothic"/>
                <a:ea typeface="Malgun Gothic"/>
              </a:rPr>
              <a:t>Context Precision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2569464"/>
            <a:ext cx="713232" cy="365760"/>
          </a:xfrm>
          <a:prstGeom prst="roundRect">
            <a:avLst>
              <a:gd name="adj" fmla="val 6000"/>
            </a:avLst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9904" y="2569464"/>
            <a:ext cx="7132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8331A"/>
                </a:solidFill>
                <a:latin typeface="Malgun Gothic"/>
                <a:ea typeface="Malgun Gothic"/>
              </a:rPr>
              <a:t>채택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331720"/>
            <a:ext cx="42793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B2E2B"/>
                </a:solidFill>
                <a:latin typeface="Malgun Gothic"/>
                <a:ea typeface="Malgun Gothic"/>
              </a:rPr>
              <a:t>검색된 청크가 실제 근거를 담는지 — 청킹 ablation의 핵심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72968"/>
            <a:ext cx="10908792" cy="841248"/>
          </a:xfrm>
          <a:prstGeom prst="rect">
            <a:avLst/>
          </a:prstGeom>
          <a:solidFill>
            <a:srgbClr val="E8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172968"/>
            <a:ext cx="2880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66"/>
                </a:solidFill>
                <a:latin typeface="Malgun Gothic"/>
                <a:ea typeface="Malgun Gothic"/>
              </a:rPr>
              <a:t>(검색 품질, 회수 측면)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172968"/>
            <a:ext cx="1783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B2E2B"/>
                </a:solidFill>
                <a:latin typeface="Malgun Gothic"/>
                <a:ea typeface="Malgun Gothic"/>
              </a:rPr>
              <a:t>Context Recall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3410712"/>
            <a:ext cx="713232" cy="365760"/>
          </a:xfrm>
          <a:prstGeom prst="roundRect">
            <a:avLst>
              <a:gd name="adj" fmla="val 6000"/>
            </a:avLst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9904" y="3410712"/>
            <a:ext cx="7132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8331A"/>
                </a:solidFill>
                <a:latin typeface="Malgun Gothic"/>
                <a:ea typeface="Malgun Gothic"/>
              </a:rPr>
              <a:t>채택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172968"/>
            <a:ext cx="42793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B2E2B"/>
                </a:solidFill>
                <a:latin typeface="Malgun Gothic"/>
                <a:ea typeface="Malgun Gothic"/>
              </a:rPr>
              <a:t>필요한 근거를 빠짐없이 회수했는지 (※ ground truth 필요)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14216"/>
            <a:ext cx="1090879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14216"/>
            <a:ext cx="2880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66"/>
                </a:solidFill>
                <a:latin typeface="Malgun Gothic"/>
                <a:ea typeface="Malgun Gothic"/>
              </a:rPr>
              <a:t>원래 병목 해소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014216"/>
            <a:ext cx="1783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B2E2B"/>
                </a:solidFill>
                <a:latin typeface="Malgun Gothic"/>
                <a:ea typeface="Malgun Gothic"/>
              </a:rPr>
              <a:t>Faithfulness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9904" y="4251960"/>
            <a:ext cx="713232" cy="365760"/>
          </a:xfrm>
          <a:prstGeom prst="roundRect">
            <a:avLst>
              <a:gd name="adj" fmla="val 6000"/>
            </a:avLst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4251960"/>
            <a:ext cx="7132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8331A"/>
                </a:solidFill>
                <a:latin typeface="Malgun Gothic"/>
                <a:ea typeface="Malgun Gothic"/>
              </a:rPr>
              <a:t>채택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014216"/>
            <a:ext cx="42793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B2E2B"/>
                </a:solidFill>
                <a:latin typeface="Malgun Gothic"/>
                <a:ea typeface="Malgun Gothic"/>
              </a:rPr>
              <a:t>인과 판단이 검색 텍스트에 실제 근거하는지 — 우리의 실패 모드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55464"/>
            <a:ext cx="10908792" cy="841248"/>
          </a:xfrm>
          <a:prstGeom prst="rect">
            <a:avLst/>
          </a:prstGeom>
          <a:solidFill>
            <a:srgbClr val="E8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855464"/>
            <a:ext cx="2880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66"/>
                </a:solidFill>
                <a:latin typeface="Malgun Gothic"/>
                <a:ea typeface="Malgun Gothic"/>
              </a:rPr>
              <a:t>QA 적합도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855464"/>
            <a:ext cx="1783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B2E2B"/>
                </a:solidFill>
                <a:latin typeface="Malgun Gothic"/>
                <a:ea typeface="Malgun Gothic"/>
              </a:rPr>
              <a:t>Answer Relevancy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9904" y="5093208"/>
            <a:ext cx="713232" cy="365760"/>
          </a:xfrm>
          <a:prstGeom prst="roundRect">
            <a:avLst>
              <a:gd name="adj" fmla="val 6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9904" y="5093208"/>
            <a:ext cx="7132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</a:rPr>
              <a:t>제외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855464"/>
            <a:ext cx="42793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B2E2B"/>
                </a:solidFill>
                <a:latin typeface="Malgun Gothic"/>
                <a:ea typeface="Malgun Gothic"/>
              </a:rPr>
              <a:t>과제가 QA가 아니라 ‘엣지 지지 여부’라 부적합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98932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F4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Malgun Gothic"/>
                <a:ea typeface="Malgun Gothic"/>
              </a:rPr>
              <a:t>실무 주의: </a:t>
            </a:r>
            <a:r>
              <a:rPr sz="1200" b="0" i="0">
                <a:solidFill>
                  <a:srgbClr val="2B2E2B"/>
                </a:solidFill>
                <a:latin typeface="Malgun Gothic"/>
                <a:ea typeface="Malgun Gothic"/>
              </a:rPr>
              <a:t>Context Recall은 정답 레퍼런스가 필요 → 소규모 골드셋을 구축하거나 RAGAS의 reference-free(LLM-judge) 변형 사용을 발표에 명시.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